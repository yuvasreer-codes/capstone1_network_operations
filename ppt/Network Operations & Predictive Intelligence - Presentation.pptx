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527"/>
          </a:solidFill>
          <a:ln/>
        </p:spPr>
      </p:sp>
      <p:sp>
        <p:nvSpPr>
          <p:cNvPr id="4" name="Shape 2"/>
          <p:cNvSpPr/>
          <p:nvPr/>
        </p:nvSpPr>
        <p:spPr>
          <a:xfrm>
            <a:off x="8458200" y="320040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5" name="Shape 3"/>
          <p:cNvSpPr/>
          <p:nvPr/>
        </p:nvSpPr>
        <p:spPr>
          <a:xfrm>
            <a:off x="9025128" y="32004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" name="Shape 4"/>
          <p:cNvSpPr/>
          <p:nvPr/>
        </p:nvSpPr>
        <p:spPr>
          <a:xfrm>
            <a:off x="9592056" y="32004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7" name="Shape 5"/>
          <p:cNvSpPr/>
          <p:nvPr/>
        </p:nvSpPr>
        <p:spPr>
          <a:xfrm>
            <a:off x="10158984" y="32004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32004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9" name="Shape 7"/>
          <p:cNvSpPr/>
          <p:nvPr/>
        </p:nvSpPr>
        <p:spPr>
          <a:xfrm>
            <a:off x="11292840" y="320040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0" name="Shape 8"/>
          <p:cNvSpPr/>
          <p:nvPr/>
        </p:nvSpPr>
        <p:spPr>
          <a:xfrm>
            <a:off x="8458200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1" name="Shape 9"/>
          <p:cNvSpPr/>
          <p:nvPr/>
        </p:nvSpPr>
        <p:spPr>
          <a:xfrm>
            <a:off x="9025128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2" name="Shape 10"/>
          <p:cNvSpPr/>
          <p:nvPr/>
        </p:nvSpPr>
        <p:spPr>
          <a:xfrm>
            <a:off x="9592056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58984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25912" y="941832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92840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7" name="Shape 15"/>
          <p:cNvSpPr/>
          <p:nvPr/>
        </p:nvSpPr>
        <p:spPr>
          <a:xfrm>
            <a:off x="9025128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8" name="Shape 16"/>
          <p:cNvSpPr/>
          <p:nvPr/>
        </p:nvSpPr>
        <p:spPr>
          <a:xfrm>
            <a:off x="9592056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8984" y="1563624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25912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92840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2" name="Shape 20"/>
          <p:cNvSpPr/>
          <p:nvPr/>
        </p:nvSpPr>
        <p:spPr>
          <a:xfrm>
            <a:off x="8458200" y="218541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3" name="Shape 21"/>
          <p:cNvSpPr/>
          <p:nvPr/>
        </p:nvSpPr>
        <p:spPr>
          <a:xfrm>
            <a:off x="9025128" y="218541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4" name="Shape 22"/>
          <p:cNvSpPr/>
          <p:nvPr/>
        </p:nvSpPr>
        <p:spPr>
          <a:xfrm>
            <a:off x="9592056" y="2185416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8984" y="218541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25912" y="218541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92840" y="218541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8" name="Shape 26"/>
          <p:cNvSpPr/>
          <p:nvPr/>
        </p:nvSpPr>
        <p:spPr>
          <a:xfrm>
            <a:off x="8458200" y="280720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9" name="Shape 27"/>
          <p:cNvSpPr/>
          <p:nvPr/>
        </p:nvSpPr>
        <p:spPr>
          <a:xfrm>
            <a:off x="9025128" y="2807208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0" name="Shape 28"/>
          <p:cNvSpPr/>
          <p:nvPr/>
        </p:nvSpPr>
        <p:spPr>
          <a:xfrm>
            <a:off x="9592056" y="280720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8984" y="280720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25912" y="280720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92840" y="280720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4" name="Shape 32"/>
          <p:cNvSpPr/>
          <p:nvPr/>
        </p:nvSpPr>
        <p:spPr>
          <a:xfrm>
            <a:off x="8458200" y="3429000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5" name="Shape 33"/>
          <p:cNvSpPr/>
          <p:nvPr/>
        </p:nvSpPr>
        <p:spPr>
          <a:xfrm>
            <a:off x="9025128" y="342900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6" name="Shape 34"/>
          <p:cNvSpPr/>
          <p:nvPr/>
        </p:nvSpPr>
        <p:spPr>
          <a:xfrm>
            <a:off x="9592056" y="342900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8984" y="342900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25912" y="342900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9" name="Shape 37"/>
          <p:cNvSpPr/>
          <p:nvPr/>
        </p:nvSpPr>
        <p:spPr>
          <a:xfrm>
            <a:off x="11292840" y="3429000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40" name="Shape 38"/>
          <p:cNvSpPr/>
          <p:nvPr/>
        </p:nvSpPr>
        <p:spPr>
          <a:xfrm>
            <a:off x="8458200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1" name="Shape 39"/>
          <p:cNvSpPr/>
          <p:nvPr/>
        </p:nvSpPr>
        <p:spPr>
          <a:xfrm>
            <a:off x="9025128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2" name="Shape 40"/>
          <p:cNvSpPr/>
          <p:nvPr/>
        </p:nvSpPr>
        <p:spPr>
          <a:xfrm>
            <a:off x="9592056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58984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4" name="Shape 42"/>
          <p:cNvSpPr/>
          <p:nvPr/>
        </p:nvSpPr>
        <p:spPr>
          <a:xfrm>
            <a:off x="10725912" y="4050792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92840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6" name="Shape 44"/>
          <p:cNvSpPr/>
          <p:nvPr/>
        </p:nvSpPr>
        <p:spPr>
          <a:xfrm>
            <a:off x="8458200" y="467258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7" name="Shape 45"/>
          <p:cNvSpPr/>
          <p:nvPr/>
        </p:nvSpPr>
        <p:spPr>
          <a:xfrm>
            <a:off x="9025128" y="467258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8" name="Shape 46"/>
          <p:cNvSpPr/>
          <p:nvPr/>
        </p:nvSpPr>
        <p:spPr>
          <a:xfrm>
            <a:off x="9592056" y="467258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9" name="Shape 47"/>
          <p:cNvSpPr/>
          <p:nvPr/>
        </p:nvSpPr>
        <p:spPr>
          <a:xfrm>
            <a:off x="10158984" y="4672584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50" name="Shape 48"/>
          <p:cNvSpPr/>
          <p:nvPr/>
        </p:nvSpPr>
        <p:spPr>
          <a:xfrm>
            <a:off x="10725912" y="467258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1" name="Shape 49"/>
          <p:cNvSpPr/>
          <p:nvPr/>
        </p:nvSpPr>
        <p:spPr>
          <a:xfrm>
            <a:off x="11292840" y="467258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2" name="Shape 50"/>
          <p:cNvSpPr/>
          <p:nvPr/>
        </p:nvSpPr>
        <p:spPr>
          <a:xfrm>
            <a:off x="8458200" y="529437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3" name="Shape 51"/>
          <p:cNvSpPr/>
          <p:nvPr/>
        </p:nvSpPr>
        <p:spPr>
          <a:xfrm>
            <a:off x="9025128" y="529437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4" name="Shape 52"/>
          <p:cNvSpPr/>
          <p:nvPr/>
        </p:nvSpPr>
        <p:spPr>
          <a:xfrm>
            <a:off x="9592056" y="5294376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55" name="Shape 53"/>
          <p:cNvSpPr/>
          <p:nvPr/>
        </p:nvSpPr>
        <p:spPr>
          <a:xfrm>
            <a:off x="10158984" y="529437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25912" y="529437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7" name="Shape 55"/>
          <p:cNvSpPr/>
          <p:nvPr/>
        </p:nvSpPr>
        <p:spPr>
          <a:xfrm>
            <a:off x="11292840" y="529437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8" name="Shape 56"/>
          <p:cNvSpPr/>
          <p:nvPr/>
        </p:nvSpPr>
        <p:spPr>
          <a:xfrm>
            <a:off x="8458200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9" name="Shape 57"/>
          <p:cNvSpPr/>
          <p:nvPr/>
        </p:nvSpPr>
        <p:spPr>
          <a:xfrm>
            <a:off x="9025128" y="5916168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0" name="Shape 58"/>
          <p:cNvSpPr/>
          <p:nvPr/>
        </p:nvSpPr>
        <p:spPr>
          <a:xfrm>
            <a:off x="9592056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1" name="Shape 59"/>
          <p:cNvSpPr/>
          <p:nvPr/>
        </p:nvSpPr>
        <p:spPr>
          <a:xfrm>
            <a:off x="10158984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2" name="Shape 60"/>
          <p:cNvSpPr/>
          <p:nvPr/>
        </p:nvSpPr>
        <p:spPr>
          <a:xfrm>
            <a:off x="10725912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3" name="Shape 61"/>
          <p:cNvSpPr/>
          <p:nvPr/>
        </p:nvSpPr>
        <p:spPr>
          <a:xfrm>
            <a:off x="11292840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4" name="Shape 62"/>
          <p:cNvSpPr/>
          <p:nvPr/>
        </p:nvSpPr>
        <p:spPr>
          <a:xfrm>
            <a:off x="8997696" y="1536192"/>
            <a:ext cx="137160" cy="1371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5" name="Shape 63"/>
          <p:cNvSpPr/>
          <p:nvPr/>
        </p:nvSpPr>
        <p:spPr>
          <a:xfrm>
            <a:off x="10698480" y="4023360"/>
            <a:ext cx="137160" cy="1371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6" name="Shape 64"/>
          <p:cNvSpPr/>
          <p:nvPr/>
        </p:nvSpPr>
        <p:spPr>
          <a:xfrm>
            <a:off x="9564624" y="5266944"/>
            <a:ext cx="137160" cy="1371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7" name="Shape 65"/>
          <p:cNvSpPr/>
          <p:nvPr/>
        </p:nvSpPr>
        <p:spPr>
          <a:xfrm>
            <a:off x="11265408" y="2157984"/>
            <a:ext cx="137160" cy="1371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21488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</a:t>
            </a:r>
            <a:endParaRPr lang="en-US" sz="4000" dirty="0"/>
          </a:p>
        </p:txBody>
      </p:sp>
      <p:sp>
        <p:nvSpPr>
          <p:cNvPr id="69" name="Text 67"/>
          <p:cNvSpPr/>
          <p:nvPr/>
        </p:nvSpPr>
        <p:spPr>
          <a:xfrm>
            <a:off x="640080" y="272491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PREDICTIVE INTELLIGENCE SYSTEM</a:t>
            </a:r>
            <a:endParaRPr lang="en-US" sz="2600" dirty="0"/>
          </a:p>
        </p:txBody>
      </p:sp>
      <p:sp>
        <p:nvSpPr>
          <p:cNvPr id="70" name="Shape 68"/>
          <p:cNvSpPr/>
          <p:nvPr/>
        </p:nvSpPr>
        <p:spPr>
          <a:xfrm>
            <a:off x="658368" y="3493008"/>
            <a:ext cx="1371600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1" name="Text 69"/>
          <p:cNvSpPr/>
          <p:nvPr/>
        </p:nvSpPr>
        <p:spPr>
          <a:xfrm>
            <a:off x="640080" y="37033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telecom signal to a predictive, AI-assisted Network Operations Center — built end to end on the Milan mobile activity grid.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 →  PROCESS  →  ENGINEER  →  PREDICT  →  EXPLAIN  →  ACT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Capstone Review  •  Python · PySpark · Airflow · FastAPI · React · ML · Claude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/home/claude/deck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" dirty="0"/>
          </a:p>
        </p:txBody>
      </p:sp>
      <p:sp>
        <p:nvSpPr>
          <p:cNvPr id="8" name="Text 5"/>
          <p:cNvSpPr/>
          <p:nvPr/>
        </p:nvSpPr>
        <p:spPr>
          <a:xfrm>
            <a:off x="1554480" y="1892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225856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problem and the value case for a predictive NOC.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1947672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1" descr="/home/claude/deck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08483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967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" dirty="0"/>
          </a:p>
        </p:txBody>
      </p:sp>
      <p:sp>
        <p:nvSpPr>
          <p:cNvPr id="14" name="Text 10"/>
          <p:cNvSpPr/>
          <p:nvPr/>
        </p:nvSpPr>
        <p:spPr>
          <a:xfrm>
            <a:off x="7269480" y="1892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&amp; Architecture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69480" y="225856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system, six engineering layers.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3375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593592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8" name="Image 2" descr="/home/claude/deck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73075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" dirty="0"/>
          </a:p>
        </p:txBody>
      </p:sp>
      <p:sp>
        <p:nvSpPr>
          <p:cNvPr id="20" name="Text 15"/>
          <p:cNvSpPr/>
          <p:nvPr/>
        </p:nvSpPr>
        <p:spPr>
          <a:xfrm>
            <a:off x="1554480" y="35387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Engineering Foundation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554480" y="390448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PySpark, and production-grade orchestration.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33375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19672" y="3593592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4" name="Image 3" descr="/home/claude/deck/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73075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19672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" dirty="0"/>
          </a:p>
        </p:txBody>
      </p:sp>
      <p:sp>
        <p:nvSpPr>
          <p:cNvPr id="26" name="Text 20"/>
          <p:cNvSpPr/>
          <p:nvPr/>
        </p:nvSpPr>
        <p:spPr>
          <a:xfrm>
            <a:off x="7269480" y="35387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the NOC Dashboard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269480" y="390448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is served, seen, and used.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49834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4672" y="5239512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0" name="Image 4" descr="/home/claude/deck/icons/trend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376672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4672" y="5239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" dirty="0"/>
          </a:p>
        </p:txBody>
      </p:sp>
      <p:sp>
        <p:nvSpPr>
          <p:cNvPr id="32" name="Text 25"/>
          <p:cNvSpPr/>
          <p:nvPr/>
        </p:nvSpPr>
        <p:spPr>
          <a:xfrm>
            <a:off x="1554480" y="518464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554480" y="555040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and anomaly detection, honestly framed.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263640" y="49834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519672" y="5239512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6" name="Image 5" descr="/home/claude/deck/icons/messag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5376672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19672" y="5239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" dirty="0"/>
          </a:p>
        </p:txBody>
      </p:sp>
      <p:sp>
        <p:nvSpPr>
          <p:cNvPr id="38" name="Text 30"/>
          <p:cNvSpPr/>
          <p:nvPr/>
        </p:nvSpPr>
        <p:spPr>
          <a:xfrm>
            <a:off x="7269480" y="518464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What's Next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7269480" y="555040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today, and the Claude AI layer ahead.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teams are flying reactive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thousand geographic cells generate activity every hour. Without a unified pipeline, operators are left scanning spreadsheets after the fact — not ahead of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269748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Shape 5"/>
          <p:cNvSpPr/>
          <p:nvPr/>
        </p:nvSpPr>
        <p:spPr>
          <a:xfrm>
            <a:off x="1577340" y="26517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/home/claude/deck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7889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47472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402336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High-activity and anomalous cells surface only after they've already caused impact.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02152" y="233172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02152" y="2331720"/>
            <a:ext cx="269748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3" name="Shape 10"/>
          <p:cNvSpPr/>
          <p:nvPr/>
        </p:nvSpPr>
        <p:spPr>
          <a:xfrm>
            <a:off x="4530852" y="26517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4" name="Image 1" descr="/home/claude/deck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7889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66744" y="347472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Siloed, untrusted data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703320" y="402336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files, spreadsheets and dashboards disagree because there's no shared source of truth.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55664" y="233172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55664" y="2331720"/>
            <a:ext cx="269748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9" name="Shape 15"/>
          <p:cNvSpPr/>
          <p:nvPr/>
        </p:nvSpPr>
        <p:spPr>
          <a:xfrm>
            <a:off x="7484364" y="26517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0" name="Image 2" descr="/home/claude/deck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524" y="27889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0256" y="347472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at scale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656832" y="402336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grid cells is too many to scan by hand, every hour, every day.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409176" y="233172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409176" y="2331720"/>
            <a:ext cx="269748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5" name="Shape 20"/>
          <p:cNvSpPr/>
          <p:nvPr/>
        </p:nvSpPr>
        <p:spPr>
          <a:xfrm>
            <a:off x="10437876" y="26517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3" descr="/home/claude/deck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5036" y="27889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73768" y="347472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AI-assisted judgment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610344" y="402336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repeat the same investigative questions with no assistant to accelerate them.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system, from raw signal to recommended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production-shaped Network Operations &amp; Predictive Intelligence platform — built in the open, layer by layer, on real geographic telecom activity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2651760"/>
            <a:ext cx="640080" cy="64008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7" name="Image 0" descr="/home/claude/deck/icon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47472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93192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 that turns raw activity files into trusted, analytics-ready data.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2331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3315C"/>
          </a:solidFill>
          <a:ln/>
        </p:spPr>
      </p:sp>
      <p:sp>
        <p:nvSpPr>
          <p:cNvPr id="11" name="Shape 8"/>
          <p:cNvSpPr/>
          <p:nvPr/>
        </p:nvSpPr>
        <p:spPr>
          <a:xfrm>
            <a:off x="4393692" y="2651760"/>
            <a:ext cx="640080" cy="64008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2" name="Image 1" descr="/home/claude/deck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788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47472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11880" y="393192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contract-driven API layer exposing summaries, drill-downs, hotspots and predictions.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2784" y="2331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3315C"/>
          </a:solidFill>
          <a:ln/>
        </p:spPr>
      </p:sp>
      <p:sp>
        <p:nvSpPr>
          <p:cNvPr id="16" name="Shape 12"/>
          <p:cNvSpPr/>
          <p:nvPr/>
        </p:nvSpPr>
        <p:spPr>
          <a:xfrm>
            <a:off x="7255764" y="2651760"/>
            <a:ext cx="640080" cy="64008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7" name="Image 2" descr="/home/claude/deck/icons/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788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37376" y="347472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393192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NOC dashboard: KPIs, grid explorer, and a geographic hotspot map of Milan.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34856" y="2331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3315C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17836" y="2651760"/>
            <a:ext cx="640080" cy="64008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2" name="Image 3" descr="/home/claude/deck/icons/trend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996" y="27889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47472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36024" y="393192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interpretable ML layer that flags risk and anomalies for operator investigation.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consumes the one before it — one system, not a collection of demos.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572768" cy="2331720"/>
          </a:xfrm>
          <a:prstGeom prst="roundRect">
            <a:avLst>
              <a:gd name="adj" fmla="val 5233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587752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7" name="Image 0" descr="/home/claude/dec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7249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33375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Activity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CSVs + Milan grid reference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119579" y="3241548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446934" y="2331720"/>
            <a:ext cx="1572768" cy="2331720"/>
          </a:xfrm>
          <a:prstGeom prst="roundRect">
            <a:avLst>
              <a:gd name="adj" fmla="val 5233"/>
            </a:avLst>
          </a:prstGeom>
          <a:solidFill>
            <a:srgbClr val="0B1F3A"/>
          </a:solidFill>
          <a:ln/>
        </p:spPr>
      </p:sp>
      <p:sp>
        <p:nvSpPr>
          <p:cNvPr id="12" name="Shape 9"/>
          <p:cNvSpPr/>
          <p:nvPr/>
        </p:nvSpPr>
        <p:spPr>
          <a:xfrm>
            <a:off x="2940710" y="2587752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3" name="Image 1" descr="/home/claude/deck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870" y="27249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0086" y="33375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538374" y="38404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aggregate, enrich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017874" y="3241548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4345229" y="2331720"/>
            <a:ext cx="1572768" cy="2331720"/>
          </a:xfrm>
          <a:prstGeom prst="roundRect">
            <a:avLst>
              <a:gd name="adj" fmla="val 5233"/>
            </a:avLst>
          </a:prstGeom>
          <a:solidFill>
            <a:srgbClr val="0B1F3A"/>
          </a:solidFill>
          <a:ln/>
        </p:spPr>
      </p:sp>
      <p:sp>
        <p:nvSpPr>
          <p:cNvPr id="18" name="Shape 14"/>
          <p:cNvSpPr/>
          <p:nvPr/>
        </p:nvSpPr>
        <p:spPr>
          <a:xfrm>
            <a:off x="4839005" y="2587752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9" name="Image 2" descr="/home/claude/deck/icons/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65" y="272491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18381" y="33375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436669" y="38404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/ dim analytics model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916168" y="3241548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6243523" y="2331720"/>
            <a:ext cx="1572768" cy="2331720"/>
          </a:xfrm>
          <a:prstGeom prst="roundRect">
            <a:avLst>
              <a:gd name="adj" fmla="val 5233"/>
            </a:avLst>
          </a:prstGeom>
          <a:solidFill>
            <a:srgbClr val="0B1F3A"/>
          </a:solidFill>
          <a:ln/>
        </p:spPr>
      </p:sp>
      <p:sp>
        <p:nvSpPr>
          <p:cNvPr id="24" name="Shape 19"/>
          <p:cNvSpPr/>
          <p:nvPr/>
        </p:nvSpPr>
        <p:spPr>
          <a:xfrm>
            <a:off x="6737299" y="2587752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5" name="Image 3" descr="/home/claude/deck/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459" y="272491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16675" y="33375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334963" y="38404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intelligence services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814462" y="3241548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3"/>
          <p:cNvSpPr/>
          <p:nvPr/>
        </p:nvSpPr>
        <p:spPr>
          <a:xfrm>
            <a:off x="8141818" y="2331720"/>
            <a:ext cx="1572768" cy="2331720"/>
          </a:xfrm>
          <a:prstGeom prst="roundRect">
            <a:avLst>
              <a:gd name="adj" fmla="val 5233"/>
            </a:avLst>
          </a:prstGeom>
          <a:solidFill>
            <a:srgbClr val="0B1F3A"/>
          </a:solidFill>
          <a:ln/>
        </p:spPr>
      </p:sp>
      <p:sp>
        <p:nvSpPr>
          <p:cNvPr id="30" name="Shape 24"/>
          <p:cNvSpPr/>
          <p:nvPr/>
        </p:nvSpPr>
        <p:spPr>
          <a:xfrm>
            <a:off x="8635594" y="2587752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1" name="Image 4" descr="/home/claude/deck/icons/gri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754" y="2724912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214970" y="33375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NOC UI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8233258" y="38404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map, risk view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9712757" y="3241548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28"/>
          <p:cNvSpPr/>
          <p:nvPr/>
        </p:nvSpPr>
        <p:spPr>
          <a:xfrm>
            <a:off x="10040112" y="2331720"/>
            <a:ext cx="1572768" cy="233172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22225">
            <a:solidFill>
              <a:srgbClr val="F2A93B"/>
            </a:solidFill>
            <a:prstDash val="dash"/>
          </a:ln>
        </p:spPr>
      </p:sp>
      <p:sp>
        <p:nvSpPr>
          <p:cNvPr id="36" name="Shape 29"/>
          <p:cNvSpPr/>
          <p:nvPr/>
        </p:nvSpPr>
        <p:spPr>
          <a:xfrm>
            <a:off x="10533888" y="2587752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7" name="Image 5" descr="/home/claude/deck/icons/messag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048" y="2724912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113264" y="33375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10131552" y="38404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 layer (next)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548640" y="4864608"/>
            <a:ext cx="91659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demonstrated today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10040112" y="486460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up next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geography, real signal, hourly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Telecom Italia Milan mobile activity dataset — the operational bedrock every layer above it depends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134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2862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100×100 map over Milan, each ~235m square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02152" y="21488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3134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day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39312" y="2862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INTERVALS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39312" y="31546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file, every day — verified, not assumed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55664" y="21488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92824" y="23134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592824" y="2862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SIGNALS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92824" y="31546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in/out, call in/out, internet activity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09176" y="21488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9546336" y="23134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9.19°E, 45.46°N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546336" y="2862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GEO-ANCHORED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546336" y="31546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 84 polygons joined on properties.cellId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3" name="Image 0" descr="/home/claude/deck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57200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00200" y="43708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by design, not by accident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00200" y="4736592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fields are treated as activity measures — never literal message counts or megabytes. grid_id is a geographic cell, never a subscriber. High activity is labelled a risk signal or hotspot, never “confirmed congestion.” This discipline is enforced in code, in review, and on every dashboard label.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FOUNDATION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CSVs to trusted, distributed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9344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5" name="Image 0" descr="/home/claude/deck/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46504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5270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processing core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61872" y="185623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UsageProcessor class standardizes cleaning, KPIs and logging — no copy-pasted notebook logic.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79776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9" name="Image 1" descr="/home/claude/deck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169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6974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at scale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61872" y="302666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ingests every daily file at once, casts and validates types, and enforces the hourly cadence.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950208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3" name="Image 2" descr="/home/claude/deck/icons/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873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8679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enrichment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61872" y="419709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grid cell is joined to real Milan polygon geometry — validated against centroid position, not just match rate.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5780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503834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Performance-aware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61872" y="5367528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and execution behaviour are inspected and tuned, not left to defaults.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178040" y="1554480"/>
            <a:ext cx="4462272" cy="4572000"/>
          </a:xfrm>
          <a:prstGeom prst="roundRect">
            <a:avLst>
              <a:gd name="adj" fmla="val 1844"/>
            </a:avLst>
          </a:prstGeom>
          <a:solidFill>
            <a:srgbClr val="0B1F3A"/>
          </a:solidFill>
          <a:ln/>
        </p:spPr>
      </p:sp>
      <p:sp>
        <p:nvSpPr>
          <p:cNvPr id="21" name="Text 15"/>
          <p:cNvSpPr/>
          <p:nvPr/>
        </p:nvSpPr>
        <p:spPr>
          <a:xfrm>
            <a:off x="7498080" y="1828800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GATES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498080" y="2386584"/>
            <a:ext cx="100584" cy="100584"/>
          </a:xfrm>
          <a:prstGeom prst="ellipse">
            <a:avLst/>
          </a:prstGeom>
          <a:solidFill>
            <a:srgbClr val="5FC9C4"/>
          </a:solidFill>
          <a:ln/>
        </p:spPr>
      </p:sp>
      <p:sp>
        <p:nvSpPr>
          <p:cNvPr id="23" name="Text 17"/>
          <p:cNvSpPr/>
          <p:nvPr/>
        </p:nvSpPr>
        <p:spPr>
          <a:xfrm>
            <a:off x="7744968" y="225856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preserved unchanged — every transform writes elsewhere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7498080" y="3163824"/>
            <a:ext cx="100584" cy="100584"/>
          </a:xfrm>
          <a:prstGeom prst="ellipse">
            <a:avLst/>
          </a:prstGeom>
          <a:solidFill>
            <a:srgbClr val="5FC9C4"/>
          </a:solidFill>
          <a:ln/>
        </p:spPr>
      </p:sp>
      <p:sp>
        <p:nvSpPr>
          <p:cNvPr id="25" name="Text 19"/>
          <p:cNvSpPr/>
          <p:nvPr/>
        </p:nvSpPr>
        <p:spPr>
          <a:xfrm>
            <a:off x="7744968" y="303580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grid_id or timestamp → quarantined, never defaulted</a:t>
            </a:r>
            <a:endParaRPr lang="en-US" sz="1080" dirty="0"/>
          </a:p>
        </p:txBody>
      </p:sp>
      <p:sp>
        <p:nvSpPr>
          <p:cNvPr id="26" name="Shape 20"/>
          <p:cNvSpPr/>
          <p:nvPr/>
        </p:nvSpPr>
        <p:spPr>
          <a:xfrm>
            <a:off x="7498080" y="3941064"/>
            <a:ext cx="100584" cy="100584"/>
          </a:xfrm>
          <a:prstGeom prst="ellipse">
            <a:avLst/>
          </a:prstGeom>
          <a:solidFill>
            <a:srgbClr val="5FC9C4"/>
          </a:solidFill>
          <a:ln/>
        </p:spPr>
      </p:sp>
      <p:sp>
        <p:nvSpPr>
          <p:cNvPr id="27" name="Text 21"/>
          <p:cNvSpPr/>
          <p:nvPr/>
        </p:nvSpPr>
        <p:spPr>
          <a:xfrm>
            <a:off x="7744968" y="381304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null-to-zero rule for activity fields, with counts logged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7498080" y="4718304"/>
            <a:ext cx="100584" cy="100584"/>
          </a:xfrm>
          <a:prstGeom prst="ellipse">
            <a:avLst/>
          </a:prstGeom>
          <a:solidFill>
            <a:srgbClr val="5FC9C4"/>
          </a:solidFill>
          <a:ln/>
        </p:spPr>
      </p:sp>
      <p:sp>
        <p:nvSpPr>
          <p:cNvPr id="29" name="Text 23"/>
          <p:cNvSpPr/>
          <p:nvPr/>
        </p:nvSpPr>
        <p:spPr>
          <a:xfrm>
            <a:off x="7744968" y="459028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 on (grid_id, timestamp) — the single most valuable test in the project</a:t>
            </a:r>
            <a:endParaRPr lang="en-US" sz="1080" dirty="0"/>
          </a:p>
        </p:txBody>
      </p:sp>
      <p:sp>
        <p:nvSpPr>
          <p:cNvPr id="30" name="Shape 24"/>
          <p:cNvSpPr/>
          <p:nvPr/>
        </p:nvSpPr>
        <p:spPr>
          <a:xfrm>
            <a:off x="7498080" y="5495544"/>
            <a:ext cx="100584" cy="100584"/>
          </a:xfrm>
          <a:prstGeom prst="ellipse">
            <a:avLst/>
          </a:prstGeom>
          <a:solidFill>
            <a:srgbClr val="5FC9C4"/>
          </a:solidFill>
          <a:ln/>
        </p:spPr>
      </p:sp>
      <p:sp>
        <p:nvSpPr>
          <p:cNvPr id="31" name="Text 25"/>
          <p:cNvSpPr/>
          <p:nvPr/>
        </p:nvSpPr>
        <p:spPr>
          <a:xfrm>
            <a:off x="7744968" y="536752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Country-code detail aggregated out before it ever reaches analytics, APIs or the dashboard</a:t>
            </a: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ORCHESTRATION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trigger. An unambiguous pass or fail.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Airflow DAG runs the full batch flow end to end, with every stage reusing the tested logic from Phases 1 and 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228600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68957" y="252831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35962" y="228600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0E8388"/>
          </a:solidFill>
          <a:ln/>
        </p:spPr>
      </p:sp>
      <p:sp>
        <p:nvSpPr>
          <p:cNvPr id="9" name="Text 7"/>
          <p:cNvSpPr/>
          <p:nvPr/>
        </p:nvSpPr>
        <p:spPr>
          <a:xfrm>
            <a:off x="2490826" y="228600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56278" y="252831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23283" y="228600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0E8388"/>
          </a:solidFill>
          <a:ln/>
        </p:spPr>
      </p:sp>
      <p:sp>
        <p:nvSpPr>
          <p:cNvPr id="12" name="Text 10"/>
          <p:cNvSpPr/>
          <p:nvPr/>
        </p:nvSpPr>
        <p:spPr>
          <a:xfrm>
            <a:off x="4378147" y="228600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Process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0" y="252831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10605" y="228600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265469" y="228600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Warehouse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30922" y="252831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97926" y="228600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152790" y="228600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18243" y="252831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985248" y="228600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40112" y="228600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 publishes a machine-readable pipeline status record — the same evidence the future Claude assistant will read, never a narrative from memory.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2519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5" name="Image 0" descr="/home/claude/deck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89120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08176" y="422452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 tested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77240" y="4892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files, malformed timestamps, negative values, duplicate ingestion, and Spark failures — each with a defined response: reject, quarantine, warn, retry, or fail.</a:t>
            </a:r>
            <a:endParaRPr lang="en-US" sz="1030" dirty="0"/>
          </a:p>
        </p:txBody>
      </p:sp>
      <p:sp>
        <p:nvSpPr>
          <p:cNvPr id="28" name="Shape 25"/>
          <p:cNvSpPr/>
          <p:nvPr/>
        </p:nvSpPr>
        <p:spPr>
          <a:xfrm>
            <a:off x="4315968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44568" y="42519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0" name="Image 1" descr="/home/claude/deck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4389120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175504" y="422452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raw zone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544568" y="4892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→ raw → rejected → reference → processed → analytics. Raw data is never touched twice; every stage is auditable.</a:t>
            </a:r>
            <a:endParaRPr lang="en-US" sz="1030" dirty="0"/>
          </a:p>
        </p:txBody>
      </p:sp>
      <p:sp>
        <p:nvSpPr>
          <p:cNvPr id="33" name="Shape 29"/>
          <p:cNvSpPr/>
          <p:nvPr/>
        </p:nvSpPr>
        <p:spPr>
          <a:xfrm>
            <a:off x="8083296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311896" y="42519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5" name="Image 2" descr="/home/claude/deck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4389120"/>
            <a:ext cx="237744" cy="23774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942832" y="422452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“now”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8311896" y="4892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AS_OF convention means the API, dashboard and (soon) Claude never disagree about the current reporting window.</a:t>
            </a:r>
            <a:endParaRPr lang="en-US" sz="1030" dirty="0"/>
          </a:p>
        </p:txBody>
      </p:sp>
      <p:sp>
        <p:nvSpPr>
          <p:cNvPr id="38" name="Text 3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WAREHOUSE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queryable model, not a pile of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activity summaries are modelled into a small, well-keyed star schema — fast to query, easy to trust.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74920" y="3246120"/>
            <a:ext cx="3291840" cy="1463040"/>
          </a:xfrm>
          <a:prstGeom prst="roundRect">
            <a:avLst>
              <a:gd name="adj" fmla="val 5625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257800" y="33924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fact_network_activity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257800" y="377647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grid_id  ·  timestamp  ·  sms / call / internet activity  ·  total_activity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51560" y="18745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E83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965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dim_grid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16152" y="22951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grid_id · centroid lat/long · polygon reference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1051560" y="48463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E83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49377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16152" y="52669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date · hour · day_of_week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840480" y="2468880"/>
            <a:ext cx="1280160" cy="731520"/>
          </a:xfrm>
          <a:prstGeom prst="line">
            <a:avLst/>
          </a:prstGeom>
          <a:noFill/>
          <a:ln w="25400">
            <a:solidFill>
              <a:srgbClr val="0E83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840480" y="4023360"/>
            <a:ext cx="1280160" cy="777240"/>
          </a:xfrm>
          <a:prstGeom prst="line">
            <a:avLst/>
          </a:prstGeom>
          <a:noFill/>
          <a:ln w="25400">
            <a:solidFill>
              <a:srgbClr val="0E83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1874520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7" name="Image 0" descr="/home/claude/deck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965960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235440" y="1819656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lives once in dim_grid — never repeated across every hourly fact row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732520" y="2926080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0" name="Image 1" descr="/home/claude/deck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301752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235440" y="2871216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on grid and time keys used by every query and API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732520" y="3977640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3" name="Image 2" descr="/home/claude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406908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235440" y="3922776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is independently validated back against the Spark output it came from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contract-first FastAPI service layer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consumer — dashboard, ML service, and the future Claude assistant — reads the same versioned contracts.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7" name="Image 0" descr="/home/claude/deck/icons/b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60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414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3246120"/>
            <a:ext cx="3063240" cy="512064"/>
          </a:xfrm>
          <a:prstGeom prst="roundRect">
            <a:avLst>
              <a:gd name="adj" fmla="val 8929"/>
            </a:avLst>
          </a:prstGeom>
          <a:solidFill>
            <a:srgbClr val="081527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24612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/network/summary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3886200"/>
            <a:ext cx="3063240" cy="512064"/>
          </a:xfrm>
          <a:prstGeom prst="roundRect">
            <a:avLst>
              <a:gd name="adj" fmla="val 8929"/>
            </a:avLst>
          </a:prstGeom>
          <a:solidFill>
            <a:srgbClr val="081527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88620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/network/grid/{grid_id}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" y="4526280"/>
            <a:ext cx="3063240" cy="512064"/>
          </a:xfrm>
          <a:prstGeom prst="roundRect">
            <a:avLst>
              <a:gd name="adj" fmla="val 8929"/>
            </a:avLst>
          </a:prstGeom>
          <a:solidFill>
            <a:srgbClr val="081527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52628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/network/hotspots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2960" y="5166360"/>
            <a:ext cx="3063240" cy="512064"/>
          </a:xfrm>
          <a:prstGeom prst="roundRect">
            <a:avLst>
              <a:gd name="adj" fmla="val 8929"/>
            </a:avLst>
          </a:prstGeom>
          <a:solidFill>
            <a:srgbClr val="081527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516636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/network/alerts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61688" y="214884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13315C"/>
          </a:solidFill>
          <a:ln/>
        </p:spPr>
      </p:sp>
      <p:sp>
        <p:nvSpPr>
          <p:cNvPr id="18" name="Shape 15"/>
          <p:cNvSpPr/>
          <p:nvPr/>
        </p:nvSpPr>
        <p:spPr>
          <a:xfrm>
            <a:off x="4636008" y="242316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9" name="Image 1" descr="/home/claude/deck/icons/tren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56032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21808" y="24414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&amp; Feature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4636008" y="3246120"/>
            <a:ext cx="3063240" cy="512064"/>
          </a:xfrm>
          <a:prstGeom prst="roundRect">
            <a:avLst>
              <a:gd name="adj" fmla="val 8929"/>
            </a:avLst>
          </a:prstGeom>
          <a:solidFill>
            <a:srgbClr val="081527"/>
          </a:solidFill>
          <a:ln/>
        </p:spPr>
      </p:sp>
      <p:sp>
        <p:nvSpPr>
          <p:cNvPr id="22" name="Text 18"/>
          <p:cNvSpPr/>
          <p:nvPr/>
        </p:nvSpPr>
        <p:spPr>
          <a:xfrm>
            <a:off x="4773168" y="324612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/network/grid/{grid_id}/features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36008" y="3886200"/>
            <a:ext cx="3063240" cy="512064"/>
          </a:xfrm>
          <a:prstGeom prst="roundRect">
            <a:avLst>
              <a:gd name="adj" fmla="val 8929"/>
            </a:avLst>
          </a:prstGeom>
          <a:solidFill>
            <a:srgbClr val="081527"/>
          </a:solidFill>
          <a:ln/>
        </p:spPr>
      </p:sp>
      <p:sp>
        <p:nvSpPr>
          <p:cNvPr id="24" name="Text 20"/>
          <p:cNvSpPr/>
          <p:nvPr/>
        </p:nvSpPr>
        <p:spPr>
          <a:xfrm>
            <a:off x="4773168" y="388620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/network/predict-risk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174736" y="214884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13315C"/>
          </a:solidFill>
          <a:ln/>
        </p:spPr>
      </p:sp>
      <p:sp>
        <p:nvSpPr>
          <p:cNvPr id="26" name="Shape 22"/>
          <p:cNvSpPr/>
          <p:nvPr/>
        </p:nvSpPr>
        <p:spPr>
          <a:xfrm>
            <a:off x="8449056" y="242316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7" name="Image 2" descr="/home/claude/deck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56032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34856" y="24414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Trust</a:t>
            </a:r>
            <a:endParaRPr lang="en-US" sz="1450" dirty="0"/>
          </a:p>
        </p:txBody>
      </p:sp>
      <p:sp>
        <p:nvSpPr>
          <p:cNvPr id="29" name="Shape 24"/>
          <p:cNvSpPr/>
          <p:nvPr/>
        </p:nvSpPr>
        <p:spPr>
          <a:xfrm>
            <a:off x="8449056" y="3246120"/>
            <a:ext cx="3063240" cy="512064"/>
          </a:xfrm>
          <a:prstGeom prst="roundRect">
            <a:avLst>
              <a:gd name="adj" fmla="val 8929"/>
            </a:avLst>
          </a:prstGeom>
          <a:solidFill>
            <a:srgbClr val="081527"/>
          </a:solidFill>
          <a:ln/>
        </p:spPr>
      </p:sp>
      <p:sp>
        <p:nvSpPr>
          <p:cNvPr id="30" name="Text 25"/>
          <p:cNvSpPr/>
          <p:nvPr/>
        </p:nvSpPr>
        <p:spPr>
          <a:xfrm>
            <a:off x="8586216" y="324612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/pipeline/status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449056" y="3886200"/>
            <a:ext cx="3063240" cy="512064"/>
          </a:xfrm>
          <a:prstGeom prst="roundRect">
            <a:avLst>
              <a:gd name="adj" fmla="val 8929"/>
            </a:avLst>
          </a:prstGeom>
          <a:solidFill>
            <a:srgbClr val="081527"/>
          </a:solidFill>
          <a:ln/>
        </p:spPr>
      </p:sp>
      <p:sp>
        <p:nvSpPr>
          <p:cNvPr id="32" name="Text 27"/>
          <p:cNvSpPr/>
          <p:nvPr/>
        </p:nvSpPr>
        <p:spPr>
          <a:xfrm>
            <a:off x="8586216" y="388620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/network/grid/{grid_id}/location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8449056" y="4526280"/>
            <a:ext cx="3063240" cy="512064"/>
          </a:xfrm>
          <a:prstGeom prst="roundRect">
            <a:avLst>
              <a:gd name="adj" fmla="val 8929"/>
            </a:avLst>
          </a:prstGeom>
          <a:solidFill>
            <a:srgbClr val="081527"/>
          </a:solidFill>
          <a:ln/>
        </p:spPr>
      </p:sp>
      <p:sp>
        <p:nvSpPr>
          <p:cNvPr id="34" name="Text 29"/>
          <p:cNvSpPr/>
          <p:nvPr/>
        </p:nvSpPr>
        <p:spPr>
          <a:xfrm>
            <a:off x="8586216" y="452628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/network/grid/{grid_id}/neighbours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NOC 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operator actually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48920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5875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7040880" cy="365760"/>
          </a:xfrm>
          <a:prstGeom prst="roundRect">
            <a:avLst>
              <a:gd name="adj" fmla="val 17500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591056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59105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91056"/>
            <a:ext cx="109728" cy="109728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4630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Dashboard — network activity  ·  as_of 2013-11-14 18:00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1513332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84832"/>
            <a:ext cx="1330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184.2K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13304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ACTIVITY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73452" y="2011680"/>
            <a:ext cx="1513332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4892" y="2084832"/>
            <a:ext cx="1330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9,742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4892" y="2468880"/>
            <a:ext cx="13304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GRIDS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23944" y="2011680"/>
            <a:ext cx="1513332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15384" y="2084832"/>
            <a:ext cx="1330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15384" y="2468880"/>
            <a:ext cx="13304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774436" y="2011680"/>
            <a:ext cx="1513332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5876" y="2084832"/>
            <a:ext cx="1330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#5061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65876" y="2468880"/>
            <a:ext cx="13304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GRID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22960" y="2971800"/>
            <a:ext cx="6492240" cy="3108960"/>
          </a:xfrm>
          <a:prstGeom prst="roundRect">
            <a:avLst>
              <a:gd name="adj" fmla="val 1471"/>
            </a:avLst>
          </a:prstGeom>
          <a:solidFill>
            <a:srgbClr val="EAF3F2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044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HOTSPOT MAP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012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25" name="Shape 23"/>
          <p:cNvSpPr/>
          <p:nvPr/>
        </p:nvSpPr>
        <p:spPr>
          <a:xfrm>
            <a:off x="134874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26" name="Shape 24"/>
          <p:cNvSpPr/>
          <p:nvPr/>
        </p:nvSpPr>
        <p:spPr>
          <a:xfrm>
            <a:off x="173736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27" name="Shape 25"/>
          <p:cNvSpPr/>
          <p:nvPr/>
        </p:nvSpPr>
        <p:spPr>
          <a:xfrm>
            <a:off x="212598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28" name="Shape 26"/>
          <p:cNvSpPr/>
          <p:nvPr/>
        </p:nvSpPr>
        <p:spPr>
          <a:xfrm>
            <a:off x="251460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29" name="Shape 27"/>
          <p:cNvSpPr/>
          <p:nvPr/>
        </p:nvSpPr>
        <p:spPr>
          <a:xfrm>
            <a:off x="290322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9184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1" name="Shape 29"/>
          <p:cNvSpPr/>
          <p:nvPr/>
        </p:nvSpPr>
        <p:spPr>
          <a:xfrm>
            <a:off x="368046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908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3" name="Shape 31"/>
          <p:cNvSpPr/>
          <p:nvPr/>
        </p:nvSpPr>
        <p:spPr>
          <a:xfrm>
            <a:off x="445770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5" name="Shape 33"/>
          <p:cNvSpPr/>
          <p:nvPr/>
        </p:nvSpPr>
        <p:spPr>
          <a:xfrm>
            <a:off x="523494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6" name="Shape 34"/>
          <p:cNvSpPr/>
          <p:nvPr/>
        </p:nvSpPr>
        <p:spPr>
          <a:xfrm>
            <a:off x="562356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7" name="Shape 35"/>
          <p:cNvSpPr/>
          <p:nvPr/>
        </p:nvSpPr>
        <p:spPr>
          <a:xfrm>
            <a:off x="601218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39" name="Shape 37"/>
          <p:cNvSpPr/>
          <p:nvPr/>
        </p:nvSpPr>
        <p:spPr>
          <a:xfrm>
            <a:off x="6789420" y="33375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0" name="Shape 38"/>
          <p:cNvSpPr/>
          <p:nvPr/>
        </p:nvSpPr>
        <p:spPr>
          <a:xfrm>
            <a:off x="96012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1" name="Shape 39"/>
          <p:cNvSpPr/>
          <p:nvPr/>
        </p:nvSpPr>
        <p:spPr>
          <a:xfrm>
            <a:off x="134874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2" name="Shape 40"/>
          <p:cNvSpPr/>
          <p:nvPr/>
        </p:nvSpPr>
        <p:spPr>
          <a:xfrm>
            <a:off x="173736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3" name="Shape 41"/>
          <p:cNvSpPr/>
          <p:nvPr/>
        </p:nvSpPr>
        <p:spPr>
          <a:xfrm>
            <a:off x="212598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4" name="Shape 42"/>
          <p:cNvSpPr/>
          <p:nvPr/>
        </p:nvSpPr>
        <p:spPr>
          <a:xfrm>
            <a:off x="251460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5" name="Shape 43"/>
          <p:cNvSpPr/>
          <p:nvPr/>
        </p:nvSpPr>
        <p:spPr>
          <a:xfrm>
            <a:off x="290322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6" name="Shape 44"/>
          <p:cNvSpPr/>
          <p:nvPr/>
        </p:nvSpPr>
        <p:spPr>
          <a:xfrm>
            <a:off x="329184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7" name="Shape 45"/>
          <p:cNvSpPr/>
          <p:nvPr/>
        </p:nvSpPr>
        <p:spPr>
          <a:xfrm>
            <a:off x="368046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8" name="Shape 46"/>
          <p:cNvSpPr/>
          <p:nvPr/>
        </p:nvSpPr>
        <p:spPr>
          <a:xfrm>
            <a:off x="406908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49" name="Shape 47"/>
          <p:cNvSpPr/>
          <p:nvPr/>
        </p:nvSpPr>
        <p:spPr>
          <a:xfrm>
            <a:off x="445770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50" name="Shape 48"/>
          <p:cNvSpPr/>
          <p:nvPr/>
        </p:nvSpPr>
        <p:spPr>
          <a:xfrm>
            <a:off x="484632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51" name="Shape 49"/>
          <p:cNvSpPr/>
          <p:nvPr/>
        </p:nvSpPr>
        <p:spPr>
          <a:xfrm>
            <a:off x="5234940" y="3771900"/>
            <a:ext cx="370332" cy="4160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2" name="Shape 50"/>
          <p:cNvSpPr/>
          <p:nvPr/>
        </p:nvSpPr>
        <p:spPr>
          <a:xfrm>
            <a:off x="5623560" y="3771900"/>
            <a:ext cx="370332" cy="41605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3" name="Shape 51"/>
          <p:cNvSpPr/>
          <p:nvPr/>
        </p:nvSpPr>
        <p:spPr>
          <a:xfrm>
            <a:off x="6012180" y="3771900"/>
            <a:ext cx="370332" cy="4160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4" name="Shape 52"/>
          <p:cNvSpPr/>
          <p:nvPr/>
        </p:nvSpPr>
        <p:spPr>
          <a:xfrm>
            <a:off x="640080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55" name="Shape 53"/>
          <p:cNvSpPr/>
          <p:nvPr/>
        </p:nvSpPr>
        <p:spPr>
          <a:xfrm>
            <a:off x="6789420" y="377190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56" name="Shape 54"/>
          <p:cNvSpPr/>
          <p:nvPr/>
        </p:nvSpPr>
        <p:spPr>
          <a:xfrm>
            <a:off x="96012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57" name="Shape 55"/>
          <p:cNvSpPr/>
          <p:nvPr/>
        </p:nvSpPr>
        <p:spPr>
          <a:xfrm>
            <a:off x="134874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58" name="Shape 56"/>
          <p:cNvSpPr/>
          <p:nvPr/>
        </p:nvSpPr>
        <p:spPr>
          <a:xfrm>
            <a:off x="1737360" y="4206240"/>
            <a:ext cx="370332" cy="4160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9" name="Shape 57"/>
          <p:cNvSpPr/>
          <p:nvPr/>
        </p:nvSpPr>
        <p:spPr>
          <a:xfrm>
            <a:off x="2125980" y="4206240"/>
            <a:ext cx="370332" cy="41605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60" name="Shape 58"/>
          <p:cNvSpPr/>
          <p:nvPr/>
        </p:nvSpPr>
        <p:spPr>
          <a:xfrm>
            <a:off x="2514600" y="4206240"/>
            <a:ext cx="370332" cy="4160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1" name="Shape 59"/>
          <p:cNvSpPr/>
          <p:nvPr/>
        </p:nvSpPr>
        <p:spPr>
          <a:xfrm>
            <a:off x="290322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62" name="Shape 60"/>
          <p:cNvSpPr/>
          <p:nvPr/>
        </p:nvSpPr>
        <p:spPr>
          <a:xfrm>
            <a:off x="329184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63" name="Shape 61"/>
          <p:cNvSpPr/>
          <p:nvPr/>
        </p:nvSpPr>
        <p:spPr>
          <a:xfrm>
            <a:off x="368046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64" name="Shape 62"/>
          <p:cNvSpPr/>
          <p:nvPr/>
        </p:nvSpPr>
        <p:spPr>
          <a:xfrm>
            <a:off x="4069080" y="4206240"/>
            <a:ext cx="370332" cy="4160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5" name="Shape 63"/>
          <p:cNvSpPr/>
          <p:nvPr/>
        </p:nvSpPr>
        <p:spPr>
          <a:xfrm>
            <a:off x="445770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66" name="Shape 64"/>
          <p:cNvSpPr/>
          <p:nvPr/>
        </p:nvSpPr>
        <p:spPr>
          <a:xfrm>
            <a:off x="484632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67" name="Shape 65"/>
          <p:cNvSpPr/>
          <p:nvPr/>
        </p:nvSpPr>
        <p:spPr>
          <a:xfrm>
            <a:off x="523494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68" name="Shape 66"/>
          <p:cNvSpPr/>
          <p:nvPr/>
        </p:nvSpPr>
        <p:spPr>
          <a:xfrm>
            <a:off x="562356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69" name="Shape 67"/>
          <p:cNvSpPr/>
          <p:nvPr/>
        </p:nvSpPr>
        <p:spPr>
          <a:xfrm>
            <a:off x="601218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0" name="Shape 68"/>
          <p:cNvSpPr/>
          <p:nvPr/>
        </p:nvSpPr>
        <p:spPr>
          <a:xfrm>
            <a:off x="640080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1" name="Shape 69"/>
          <p:cNvSpPr/>
          <p:nvPr/>
        </p:nvSpPr>
        <p:spPr>
          <a:xfrm>
            <a:off x="6789420" y="420624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2" name="Shape 70"/>
          <p:cNvSpPr/>
          <p:nvPr/>
        </p:nvSpPr>
        <p:spPr>
          <a:xfrm>
            <a:off x="96012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3" name="Shape 71"/>
          <p:cNvSpPr/>
          <p:nvPr/>
        </p:nvSpPr>
        <p:spPr>
          <a:xfrm>
            <a:off x="134874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4" name="Shape 72"/>
          <p:cNvSpPr/>
          <p:nvPr/>
        </p:nvSpPr>
        <p:spPr>
          <a:xfrm>
            <a:off x="173736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5" name="Shape 73"/>
          <p:cNvSpPr/>
          <p:nvPr/>
        </p:nvSpPr>
        <p:spPr>
          <a:xfrm>
            <a:off x="212598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6" name="Shape 74"/>
          <p:cNvSpPr/>
          <p:nvPr/>
        </p:nvSpPr>
        <p:spPr>
          <a:xfrm>
            <a:off x="251460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7" name="Shape 75"/>
          <p:cNvSpPr/>
          <p:nvPr/>
        </p:nvSpPr>
        <p:spPr>
          <a:xfrm>
            <a:off x="290322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8" name="Shape 76"/>
          <p:cNvSpPr/>
          <p:nvPr/>
        </p:nvSpPr>
        <p:spPr>
          <a:xfrm>
            <a:off x="329184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79" name="Shape 77"/>
          <p:cNvSpPr/>
          <p:nvPr/>
        </p:nvSpPr>
        <p:spPr>
          <a:xfrm>
            <a:off x="368046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80" name="Shape 78"/>
          <p:cNvSpPr/>
          <p:nvPr/>
        </p:nvSpPr>
        <p:spPr>
          <a:xfrm>
            <a:off x="406908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81" name="Shape 79"/>
          <p:cNvSpPr/>
          <p:nvPr/>
        </p:nvSpPr>
        <p:spPr>
          <a:xfrm>
            <a:off x="4457700" y="4640580"/>
            <a:ext cx="370332" cy="41605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82" name="Shape 80"/>
          <p:cNvSpPr/>
          <p:nvPr/>
        </p:nvSpPr>
        <p:spPr>
          <a:xfrm>
            <a:off x="484632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83" name="Shape 81"/>
          <p:cNvSpPr/>
          <p:nvPr/>
        </p:nvSpPr>
        <p:spPr>
          <a:xfrm>
            <a:off x="523494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84" name="Shape 82"/>
          <p:cNvSpPr/>
          <p:nvPr/>
        </p:nvSpPr>
        <p:spPr>
          <a:xfrm>
            <a:off x="562356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85" name="Shape 83"/>
          <p:cNvSpPr/>
          <p:nvPr/>
        </p:nvSpPr>
        <p:spPr>
          <a:xfrm>
            <a:off x="601218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86" name="Shape 84"/>
          <p:cNvSpPr/>
          <p:nvPr/>
        </p:nvSpPr>
        <p:spPr>
          <a:xfrm>
            <a:off x="640080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87" name="Shape 85"/>
          <p:cNvSpPr/>
          <p:nvPr/>
        </p:nvSpPr>
        <p:spPr>
          <a:xfrm>
            <a:off x="6789420" y="464058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88" name="Shape 86"/>
          <p:cNvSpPr/>
          <p:nvPr/>
        </p:nvSpPr>
        <p:spPr>
          <a:xfrm>
            <a:off x="96012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89" name="Shape 87"/>
          <p:cNvSpPr/>
          <p:nvPr/>
        </p:nvSpPr>
        <p:spPr>
          <a:xfrm>
            <a:off x="134874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90" name="Shape 88"/>
          <p:cNvSpPr/>
          <p:nvPr/>
        </p:nvSpPr>
        <p:spPr>
          <a:xfrm>
            <a:off x="173736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91" name="Shape 89"/>
          <p:cNvSpPr/>
          <p:nvPr/>
        </p:nvSpPr>
        <p:spPr>
          <a:xfrm>
            <a:off x="212598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92" name="Shape 90"/>
          <p:cNvSpPr/>
          <p:nvPr/>
        </p:nvSpPr>
        <p:spPr>
          <a:xfrm>
            <a:off x="251460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93" name="Shape 91"/>
          <p:cNvSpPr/>
          <p:nvPr/>
        </p:nvSpPr>
        <p:spPr>
          <a:xfrm>
            <a:off x="290322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94" name="Shape 92"/>
          <p:cNvSpPr/>
          <p:nvPr/>
        </p:nvSpPr>
        <p:spPr>
          <a:xfrm>
            <a:off x="3291840" y="5074920"/>
            <a:ext cx="370332" cy="41605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5" name="Shape 93"/>
          <p:cNvSpPr/>
          <p:nvPr/>
        </p:nvSpPr>
        <p:spPr>
          <a:xfrm>
            <a:off x="368046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96" name="Shape 94"/>
          <p:cNvSpPr/>
          <p:nvPr/>
        </p:nvSpPr>
        <p:spPr>
          <a:xfrm>
            <a:off x="4069080" y="5074920"/>
            <a:ext cx="370332" cy="4160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7" name="Shape 95"/>
          <p:cNvSpPr/>
          <p:nvPr/>
        </p:nvSpPr>
        <p:spPr>
          <a:xfrm>
            <a:off x="445770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99" name="Shape 97"/>
          <p:cNvSpPr/>
          <p:nvPr/>
        </p:nvSpPr>
        <p:spPr>
          <a:xfrm>
            <a:off x="523494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0" name="Shape 98"/>
          <p:cNvSpPr/>
          <p:nvPr/>
        </p:nvSpPr>
        <p:spPr>
          <a:xfrm>
            <a:off x="562356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1" name="Shape 99"/>
          <p:cNvSpPr/>
          <p:nvPr/>
        </p:nvSpPr>
        <p:spPr>
          <a:xfrm>
            <a:off x="601218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40080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789420" y="507492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6012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34874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73736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12598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51460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90322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29184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68046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06908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3" name="Shape 111"/>
          <p:cNvSpPr/>
          <p:nvPr/>
        </p:nvSpPr>
        <p:spPr>
          <a:xfrm>
            <a:off x="445770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84632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23494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62356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01218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40080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789420" y="5509260"/>
            <a:ext cx="370332" cy="416052"/>
          </a:xfrm>
          <a:prstGeom prst="rect">
            <a:avLst/>
          </a:prstGeom>
          <a:solidFill>
            <a:srgbClr val="CFE3E1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818120" y="14630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1" name="Image 0" descr="/home/claude/deck/icons/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4" y="1563624"/>
            <a:ext cx="256032" cy="256032"/>
          </a:xfrm>
          <a:prstGeom prst="rect">
            <a:avLst/>
          </a:prstGeom>
        </p:spPr>
      </p:pic>
      <p:sp>
        <p:nvSpPr>
          <p:cNvPr id="122" name="Text 119"/>
          <p:cNvSpPr/>
          <p:nvPr/>
        </p:nvSpPr>
        <p:spPr>
          <a:xfrm>
            <a:off x="8412480" y="1426464"/>
            <a:ext cx="3227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Overview</a:t>
            </a:r>
            <a:endParaRPr lang="en-US" sz="1250" dirty="0"/>
          </a:p>
        </p:txBody>
      </p:sp>
      <p:sp>
        <p:nvSpPr>
          <p:cNvPr id="123" name="Text 120"/>
          <p:cNvSpPr/>
          <p:nvPr/>
        </p:nvSpPr>
        <p:spPr>
          <a:xfrm>
            <a:off x="8412480" y="1737360"/>
            <a:ext cx="3227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KPI cards reading the shared AS_OF reporting window — never the browser clock.</a:t>
            </a:r>
            <a:endParaRPr lang="en-US" sz="980" dirty="0"/>
          </a:p>
        </p:txBody>
      </p:sp>
      <p:sp>
        <p:nvSpPr>
          <p:cNvPr id="124" name="Shape 121"/>
          <p:cNvSpPr/>
          <p:nvPr/>
        </p:nvSpPr>
        <p:spPr>
          <a:xfrm>
            <a:off x="7818120" y="26334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5" name="Image 1" descr="/home/claude/deck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2734056"/>
            <a:ext cx="256032" cy="256032"/>
          </a:xfrm>
          <a:prstGeom prst="rect">
            <a:avLst/>
          </a:prstGeom>
        </p:spPr>
      </p:pic>
      <p:sp>
        <p:nvSpPr>
          <p:cNvPr id="126" name="Text 122"/>
          <p:cNvSpPr/>
          <p:nvPr/>
        </p:nvSpPr>
        <p:spPr>
          <a:xfrm>
            <a:off x="8412480" y="2596896"/>
            <a:ext cx="3227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Explorer</a:t>
            </a:r>
            <a:endParaRPr lang="en-US" sz="1250" dirty="0"/>
          </a:p>
        </p:txBody>
      </p:sp>
      <p:sp>
        <p:nvSpPr>
          <p:cNvPr id="127" name="Text 123"/>
          <p:cNvSpPr/>
          <p:nvPr/>
        </p:nvSpPr>
        <p:spPr>
          <a:xfrm>
            <a:off x="8412480" y="2907792"/>
            <a:ext cx="3227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of the 10,000 cells and see its call, SMS, internet and total activity trend.</a:t>
            </a:r>
            <a:endParaRPr lang="en-US" sz="980" dirty="0"/>
          </a:p>
        </p:txBody>
      </p:sp>
      <p:sp>
        <p:nvSpPr>
          <p:cNvPr id="128" name="Shape 124"/>
          <p:cNvSpPr/>
          <p:nvPr/>
        </p:nvSpPr>
        <p:spPr>
          <a:xfrm>
            <a:off x="7818120" y="3803904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9" name="Image 2" descr="/home/claude/deck/icons/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3904488"/>
            <a:ext cx="256032" cy="256032"/>
          </a:xfrm>
          <a:prstGeom prst="rect">
            <a:avLst/>
          </a:prstGeom>
        </p:spPr>
      </p:pic>
      <p:sp>
        <p:nvSpPr>
          <p:cNvPr id="130" name="Text 125"/>
          <p:cNvSpPr/>
          <p:nvPr/>
        </p:nvSpPr>
        <p:spPr>
          <a:xfrm>
            <a:off x="8412480" y="3767328"/>
            <a:ext cx="3227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&amp; Alert Map</a:t>
            </a:r>
            <a:endParaRPr lang="en-US" sz="1250" dirty="0"/>
          </a:p>
        </p:txBody>
      </p:sp>
      <p:sp>
        <p:nvSpPr>
          <p:cNvPr id="131" name="Text 126"/>
          <p:cNvSpPr/>
          <p:nvPr/>
        </p:nvSpPr>
        <p:spPr>
          <a:xfrm>
            <a:off x="8412480" y="4078224"/>
            <a:ext cx="3227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high-activity grids joined to real Milan geometry — click a polygon to explore it.</a:t>
            </a:r>
            <a:endParaRPr lang="en-US" sz="980" dirty="0"/>
          </a:p>
        </p:txBody>
      </p:sp>
      <p:sp>
        <p:nvSpPr>
          <p:cNvPr id="132" name="Shape 127"/>
          <p:cNvSpPr/>
          <p:nvPr/>
        </p:nvSpPr>
        <p:spPr>
          <a:xfrm>
            <a:off x="7818120" y="497433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33" name="Image 3" descr="/home/claude/deck/icons/trend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5074920"/>
            <a:ext cx="256032" cy="256032"/>
          </a:xfrm>
          <a:prstGeom prst="rect">
            <a:avLst/>
          </a:prstGeom>
        </p:spPr>
      </p:pic>
      <p:sp>
        <p:nvSpPr>
          <p:cNvPr id="134" name="Text 128"/>
          <p:cNvSpPr/>
          <p:nvPr/>
        </p:nvSpPr>
        <p:spPr>
          <a:xfrm>
            <a:off x="8412480" y="4937760"/>
            <a:ext cx="3227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View</a:t>
            </a:r>
            <a:endParaRPr lang="en-US" sz="1250" dirty="0"/>
          </a:p>
        </p:txBody>
      </p:sp>
      <p:sp>
        <p:nvSpPr>
          <p:cNvPr id="135" name="Text 129"/>
          <p:cNvSpPr/>
          <p:nvPr/>
        </p:nvSpPr>
        <p:spPr>
          <a:xfrm>
            <a:off x="8412480" y="5248656"/>
            <a:ext cx="3227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 model score for a grid and window, shown separately from any narrative explanation.</a:t>
            </a:r>
            <a:endParaRPr lang="en-US" sz="980" dirty="0"/>
          </a:p>
        </p:txBody>
      </p:sp>
      <p:sp>
        <p:nvSpPr>
          <p:cNvPr id="136" name="Text 13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137" name="Text 13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signals, honestly framed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models over engineered features — built to flag investigation targets, never to declare a confirmed fault.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 (computed strictly from the past — t, never t+1)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avg_activity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210312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1031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activity_growth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700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peak_ratio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0" y="2670048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26700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331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3697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internet_share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0" y="3236976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323697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active_hours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2606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840480" y="2029968"/>
            <a:ext cx="3063240" cy="1170432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/>
        </p:spPr>
      </p:sp>
      <p:sp>
        <p:nvSpPr>
          <p:cNvPr id="20" name="Shape 18"/>
          <p:cNvSpPr/>
          <p:nvPr/>
        </p:nvSpPr>
        <p:spPr>
          <a:xfrm>
            <a:off x="4023360" y="2176272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1" name="Image 0" descr="/home/claude/deck/icons/b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3944" y="2276856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617720" y="20848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023360" y="2633472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train/test split; precision, recall &amp; base rate reported alongside accuracy.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840480" y="3310128"/>
            <a:ext cx="3063240" cy="1170432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/>
        </p:spPr>
      </p:sp>
      <p:sp>
        <p:nvSpPr>
          <p:cNvPr id="25" name="Shape 22"/>
          <p:cNvSpPr/>
          <p:nvPr/>
        </p:nvSpPr>
        <p:spPr>
          <a:xfrm>
            <a:off x="4023360" y="34564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1" descr="/home/claude/deck/icons/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4" y="3557016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617720" y="34015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Baseline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023360" y="391363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from a per-grid, per-hour historical baseline — flags unusually high or low activity.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940296" y="2880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6"/>
          <p:cNvSpPr/>
          <p:nvPr/>
        </p:nvSpPr>
        <p:spPr>
          <a:xfrm>
            <a:off x="7360920" y="2606040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0E8388"/>
          </a:solidFill>
          <a:ln/>
        </p:spPr>
      </p:sp>
      <p:sp>
        <p:nvSpPr>
          <p:cNvPr id="31" name="Shape 27"/>
          <p:cNvSpPr/>
          <p:nvPr/>
        </p:nvSpPr>
        <p:spPr>
          <a:xfrm>
            <a:off x="7543800" y="27432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2" descr="/home/claude/deck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83464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138160" y="2651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via POST /network/predict-risk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6E8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2960" y="4956048"/>
            <a:ext cx="530352" cy="53035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6" name="Image 3" descr="/home/claude/deck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93208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554480" y="4892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score means “investigate” — never “the network is congested”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1554480" y="5285232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throughput, latency or packet-loss data in this project. Model output is always shown separate from any narrative explanation, and every score carries a model_version and feature_timestamp for traceability.</a:t>
            </a:r>
            <a:endParaRPr lang="en-US" sz="1080" dirty="0"/>
          </a:p>
        </p:txBody>
      </p:sp>
      <p:sp>
        <p:nvSpPr>
          <p:cNvPr id="39" name="Text 3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replaces — and what it enables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30352" cy="530352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/home/claude/deck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spreadsheet scanning to full coverage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1488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10,000 grid cells is scored every reporting hour — not a manual sample.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3315C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136392"/>
            <a:ext cx="530352" cy="530352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1" name="Image 1" descr="/home/claude/deck/icons/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735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718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after-the-fact to early signal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08760" y="331927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alerts, an interpretable classifier and an anomaly baseline agree — or disagree — in real time, before impact is confirmed.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4032504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3315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306824"/>
            <a:ext cx="530352" cy="530352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6" name="Image 2" descr="/home/claude/deck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4398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14223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“trust me” to audit-ready evidence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4489704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KPI, score and API response traces back to a validated pipeline run with a machine-readable status record.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520293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3315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477256"/>
            <a:ext cx="530352" cy="530352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1" name="Image 3" descr="/home/claude/deck/icons/compas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61441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31266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dashboard to a growing platform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08760" y="5660136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contracts (API, warehouse, feature schema) that power the dashboard today are exactly what the Claude AI layer will reason over next.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 delivered,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below has been built, run and validated against the acceptance checks in the project contract.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536192" cy="3246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350008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7" name="Image 0" descr="/home/claude/deck/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597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97180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Core Python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" y="3657600"/>
            <a:ext cx="13167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UsageProcessor, rule-based alerts</a:t>
            </a:r>
            <a:endParaRPr lang="en-US" sz="830" dirty="0"/>
          </a:p>
        </p:txBody>
      </p:sp>
      <p:sp>
        <p:nvSpPr>
          <p:cNvPr id="10" name="Text 7"/>
          <p:cNvSpPr/>
          <p:nvPr/>
        </p:nvSpPr>
        <p:spPr>
          <a:xfrm>
            <a:off x="640080" y="504748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2208276" y="2148840"/>
            <a:ext cx="1536192" cy="3246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20340" y="2350008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3" name="Image 1" descr="/home/claude/deck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068" y="245973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18004" y="297180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PySpark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318004" y="3657600"/>
            <a:ext cx="13167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ingest, cleaning, aggregation, enrichment</a:t>
            </a:r>
            <a:endParaRPr lang="en-US" sz="830" dirty="0"/>
          </a:p>
        </p:txBody>
      </p:sp>
      <p:sp>
        <p:nvSpPr>
          <p:cNvPr id="16" name="Text 12"/>
          <p:cNvSpPr/>
          <p:nvPr/>
        </p:nvSpPr>
        <p:spPr>
          <a:xfrm>
            <a:off x="2299716" y="504748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3867912" y="2148840"/>
            <a:ext cx="1536192" cy="3246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79976" y="2350008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9" name="Image 2" descr="/home/claude/deck/icons/git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45973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7640" y="297180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Data Engineering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977640" y="3657600"/>
            <a:ext cx="13167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Landing-to-warehouse pipeline, Airflow orchestration</a:t>
            </a:r>
            <a:endParaRPr lang="en-US" sz="830" dirty="0"/>
          </a:p>
        </p:txBody>
      </p:sp>
      <p:sp>
        <p:nvSpPr>
          <p:cNvPr id="22" name="Text 17"/>
          <p:cNvSpPr/>
          <p:nvPr/>
        </p:nvSpPr>
        <p:spPr>
          <a:xfrm>
            <a:off x="3959352" y="504748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80" dirty="0"/>
          </a:p>
        </p:txBody>
      </p:sp>
      <p:sp>
        <p:nvSpPr>
          <p:cNvPr id="23" name="Shape 18"/>
          <p:cNvSpPr/>
          <p:nvPr/>
        </p:nvSpPr>
        <p:spPr>
          <a:xfrm>
            <a:off x="5527548" y="2148840"/>
            <a:ext cx="1536192" cy="3246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039612" y="2350008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5" name="Image 3" descr="/home/claude/deck/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2459736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37276" y="297180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FastAPI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37276" y="3657600"/>
            <a:ext cx="13167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network intelligence service endpoints</a:t>
            </a:r>
            <a:endParaRPr lang="en-US" sz="830" dirty="0"/>
          </a:p>
        </p:txBody>
      </p:sp>
      <p:sp>
        <p:nvSpPr>
          <p:cNvPr id="28" name="Text 22"/>
          <p:cNvSpPr/>
          <p:nvPr/>
        </p:nvSpPr>
        <p:spPr>
          <a:xfrm>
            <a:off x="5618988" y="504748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80" dirty="0"/>
          </a:p>
        </p:txBody>
      </p:sp>
      <p:sp>
        <p:nvSpPr>
          <p:cNvPr id="29" name="Shape 23"/>
          <p:cNvSpPr/>
          <p:nvPr/>
        </p:nvSpPr>
        <p:spPr>
          <a:xfrm>
            <a:off x="7187184" y="2148840"/>
            <a:ext cx="1536192" cy="3246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699248" y="2350008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1" name="Image 4" descr="/home/claude/deck/icons/gri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2459736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96912" y="297180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React NOC UI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7296912" y="3657600"/>
            <a:ext cx="13167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grid explorer, hotspot map, risk view</a:t>
            </a:r>
            <a:endParaRPr lang="en-US" sz="830" dirty="0"/>
          </a:p>
        </p:txBody>
      </p:sp>
      <p:sp>
        <p:nvSpPr>
          <p:cNvPr id="34" name="Text 27"/>
          <p:cNvSpPr/>
          <p:nvPr/>
        </p:nvSpPr>
        <p:spPr>
          <a:xfrm>
            <a:off x="7278624" y="504748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80" dirty="0"/>
          </a:p>
        </p:txBody>
      </p:sp>
      <p:sp>
        <p:nvSpPr>
          <p:cNvPr id="35" name="Shape 28"/>
          <p:cNvSpPr/>
          <p:nvPr/>
        </p:nvSpPr>
        <p:spPr>
          <a:xfrm>
            <a:off x="8846820" y="2148840"/>
            <a:ext cx="1536192" cy="3246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358884" y="2350008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7" name="Image 5" descr="/home/claude/deck/icons/trendin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612" y="2459736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56548" y="297180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Machine Learning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956548" y="3657600"/>
            <a:ext cx="13167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classifier, anomaly baseline, batch scoring</a:t>
            </a:r>
            <a:endParaRPr lang="en-US" sz="830" dirty="0"/>
          </a:p>
        </p:txBody>
      </p:sp>
      <p:sp>
        <p:nvSpPr>
          <p:cNvPr id="40" name="Text 32"/>
          <p:cNvSpPr/>
          <p:nvPr/>
        </p:nvSpPr>
        <p:spPr>
          <a:xfrm>
            <a:off x="8938260" y="504748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80" dirty="0"/>
          </a:p>
        </p:txBody>
      </p:sp>
      <p:sp>
        <p:nvSpPr>
          <p:cNvPr id="41" name="Shape 33"/>
          <p:cNvSpPr/>
          <p:nvPr/>
        </p:nvSpPr>
        <p:spPr>
          <a:xfrm>
            <a:off x="10506456" y="2148840"/>
            <a:ext cx="1536192" cy="3246120"/>
          </a:xfrm>
          <a:prstGeom prst="roundRect">
            <a:avLst>
              <a:gd name="adj" fmla="val 4762"/>
            </a:avLst>
          </a:prstGeom>
          <a:solidFill>
            <a:srgbClr val="FFF6E8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1018520" y="2350008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3" name="Image 6" descr="/home/claude/deck/icons/messag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8248" y="2459736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0616184" y="297180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Claude AI Layer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10616184" y="3657600"/>
            <a:ext cx="13167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assistant, tools, agents, MCP</a:t>
            </a:r>
            <a:endParaRPr lang="en-US" sz="830" dirty="0"/>
          </a:p>
        </p:txBody>
      </p:sp>
      <p:sp>
        <p:nvSpPr>
          <p:cNvPr id="46" name="Text 37"/>
          <p:cNvSpPr/>
          <p:nvPr/>
        </p:nvSpPr>
        <p:spPr>
          <a:xfrm>
            <a:off x="10597896" y="504748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80" dirty="0"/>
          </a:p>
        </p:txBody>
      </p:sp>
      <p:sp>
        <p:nvSpPr>
          <p:cNvPr id="47" name="Text 38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 phases complete  ·  38 of 46 labs delivered  ·  Claude AI layer (16 labs) next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AI layer: from dashboard to conversation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phase turns every service and contract already built into evidence a reasoning assistant can use — never fabricate.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304288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deck/icons/mess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409444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677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Insight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9504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API-generated situation reports and a tool-using operations assistant that calls the real network APIs for evidence.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4325112" y="2103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2304288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2" name="Image 1" descr="/home/claude/deck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09444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2677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&amp; Memory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26280" y="2889504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incident investigation across pipeline status, hotspots and history — reasoning, not recollection.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8101584" y="2103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16" name="Shape 12"/>
          <p:cNvSpPr/>
          <p:nvPr/>
        </p:nvSpPr>
        <p:spPr>
          <a:xfrm>
            <a:off x="8302752" y="2304288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/home/claude/deck/icons/termin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908" y="2409444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78824" y="22677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Engineering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02752" y="2889504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mode, permissions, hooks, checkpoints and slash commands — governed agentic changes to the live repository.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548640" y="427024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4471416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3" descr="/home/claude/deck/icons/puzz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4576572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434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Team Standardization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9808" y="5056632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network-operations expertise and plugins so every engineer gets the same vetted assistant behaviour.</a:t>
            </a: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4325112" y="427024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26" name="Shape 20"/>
          <p:cNvSpPr/>
          <p:nvPr/>
        </p:nvSpPr>
        <p:spPr>
          <a:xfrm>
            <a:off x="4526280" y="4471416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7" name="Image 4" descr="/home/claude/deck/icons/compas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436" y="4576572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2352" y="4434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&amp; Orchestration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26280" y="5056632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multi-agent workflows and event-driven hooks for repeatable investigation playbooks.</a:t>
            </a:r>
            <a:endParaRPr lang="en-US" sz="930" dirty="0"/>
          </a:p>
        </p:txBody>
      </p:sp>
      <p:sp>
        <p:nvSpPr>
          <p:cNvPr id="30" name="Shape 23"/>
          <p:cNvSpPr/>
          <p:nvPr/>
        </p:nvSpPr>
        <p:spPr>
          <a:xfrm>
            <a:off x="8101584" y="427024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31" name="Shape 24"/>
          <p:cNvSpPr/>
          <p:nvPr/>
        </p:nvSpPr>
        <p:spPr>
          <a:xfrm>
            <a:off x="8302752" y="4471416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2" name="Image 5" descr="/home/claude/deck/icons/too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7908" y="4576572"/>
            <a:ext cx="265176" cy="26517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78824" y="4434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 &amp; MCP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02752" y="5056632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headless NOC investigation agent and an MCP server exposing network intelligence as callable tools — with CI review and cost controls.</a:t>
            </a:r>
            <a:endParaRPr lang="en-US" sz="930" dirty="0"/>
          </a:p>
        </p:txBody>
      </p:sp>
      <p:sp>
        <p:nvSpPr>
          <p:cNvPr id="35" name="Text 2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 stack, top to bottom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9052" y="2002536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/home/claude/deck/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139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743200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306324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&amp; OOP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6260" y="2002536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1" name="Image 1" descr="/home/claude/deck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1396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5576" y="2743200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65576" y="306324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engineering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73468" y="2002536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6" name="Image 2" descr="/home/claude/deck/icons/git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28" y="21396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2743200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72784" y="306324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70264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0676" y="2002536"/>
            <a:ext cx="585216" cy="58521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1" name="Image 3" descr="/home/claude/deck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836" y="213969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9992" y="2743200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Warehouse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79992" y="306324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analytics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767328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59052" y="3986784"/>
            <a:ext cx="585216" cy="58521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4" descr="/home/claude/deck/icons/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212" y="412394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4727448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8368" y="5047488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55848" y="3767328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66260" y="3986784"/>
            <a:ext cx="585216" cy="58521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5" descr="/home/claude/deck/icons/gri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420" y="4123944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65576" y="4727448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465576" y="5047488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dashboard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63056" y="3767328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173468" y="3986784"/>
            <a:ext cx="585216" cy="58521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6" name="Image 6" descr="/home/claude/deck/icons/trending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0628" y="4123944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72784" y="4727448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272784" y="5047488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anomaly models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970264" y="3767328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980676" y="3986784"/>
            <a:ext cx="585216" cy="58521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1" name="Image 7" descr="/home/claude/deck/icons/messag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7836" y="4123944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79992" y="4727448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079992" y="5047488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layer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527"/>
          </a:solidFill>
          <a:ln/>
        </p:spPr>
      </p:sp>
      <p:sp>
        <p:nvSpPr>
          <p:cNvPr id="4" name="Shape 2"/>
          <p:cNvSpPr/>
          <p:nvPr/>
        </p:nvSpPr>
        <p:spPr>
          <a:xfrm>
            <a:off x="8458200" y="320040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5" name="Shape 3"/>
          <p:cNvSpPr/>
          <p:nvPr/>
        </p:nvSpPr>
        <p:spPr>
          <a:xfrm>
            <a:off x="9025128" y="32004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" name="Shape 4"/>
          <p:cNvSpPr/>
          <p:nvPr/>
        </p:nvSpPr>
        <p:spPr>
          <a:xfrm>
            <a:off x="9592056" y="32004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7" name="Shape 5"/>
          <p:cNvSpPr/>
          <p:nvPr/>
        </p:nvSpPr>
        <p:spPr>
          <a:xfrm>
            <a:off x="10158984" y="32004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320040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9" name="Shape 7"/>
          <p:cNvSpPr/>
          <p:nvPr/>
        </p:nvSpPr>
        <p:spPr>
          <a:xfrm>
            <a:off x="11292840" y="32004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0" name="Shape 8"/>
          <p:cNvSpPr/>
          <p:nvPr/>
        </p:nvSpPr>
        <p:spPr>
          <a:xfrm>
            <a:off x="8458200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1" name="Shape 9"/>
          <p:cNvSpPr/>
          <p:nvPr/>
        </p:nvSpPr>
        <p:spPr>
          <a:xfrm>
            <a:off x="9025128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2" name="Shape 10"/>
          <p:cNvSpPr/>
          <p:nvPr/>
        </p:nvSpPr>
        <p:spPr>
          <a:xfrm>
            <a:off x="9592056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58984" y="941832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25912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92840" y="94183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7" name="Shape 15"/>
          <p:cNvSpPr/>
          <p:nvPr/>
        </p:nvSpPr>
        <p:spPr>
          <a:xfrm>
            <a:off x="9025128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18" name="Shape 16"/>
          <p:cNvSpPr/>
          <p:nvPr/>
        </p:nvSpPr>
        <p:spPr>
          <a:xfrm>
            <a:off x="9592056" y="1563624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8984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25912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92840" y="156362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2" name="Shape 20"/>
          <p:cNvSpPr/>
          <p:nvPr/>
        </p:nvSpPr>
        <p:spPr>
          <a:xfrm>
            <a:off x="8458200" y="218541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3" name="Shape 21"/>
          <p:cNvSpPr/>
          <p:nvPr/>
        </p:nvSpPr>
        <p:spPr>
          <a:xfrm>
            <a:off x="9025128" y="2185416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4" name="Shape 22"/>
          <p:cNvSpPr/>
          <p:nvPr/>
        </p:nvSpPr>
        <p:spPr>
          <a:xfrm>
            <a:off x="9592056" y="218541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8984" y="218541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25912" y="218541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92840" y="2185416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8" name="Shape 26"/>
          <p:cNvSpPr/>
          <p:nvPr/>
        </p:nvSpPr>
        <p:spPr>
          <a:xfrm>
            <a:off x="8458200" y="2807208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9" name="Shape 27"/>
          <p:cNvSpPr/>
          <p:nvPr/>
        </p:nvSpPr>
        <p:spPr>
          <a:xfrm>
            <a:off x="9025128" y="280720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0" name="Shape 28"/>
          <p:cNvSpPr/>
          <p:nvPr/>
        </p:nvSpPr>
        <p:spPr>
          <a:xfrm>
            <a:off x="9592056" y="280720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8984" y="280720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25912" y="2807208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92840" y="280720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4" name="Shape 32"/>
          <p:cNvSpPr/>
          <p:nvPr/>
        </p:nvSpPr>
        <p:spPr>
          <a:xfrm>
            <a:off x="8458200" y="342900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5" name="Shape 33"/>
          <p:cNvSpPr/>
          <p:nvPr/>
        </p:nvSpPr>
        <p:spPr>
          <a:xfrm>
            <a:off x="9025128" y="342900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6" name="Shape 34"/>
          <p:cNvSpPr/>
          <p:nvPr/>
        </p:nvSpPr>
        <p:spPr>
          <a:xfrm>
            <a:off x="9592056" y="342900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8984" y="3429000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25912" y="342900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39" name="Shape 37"/>
          <p:cNvSpPr/>
          <p:nvPr/>
        </p:nvSpPr>
        <p:spPr>
          <a:xfrm>
            <a:off x="11292840" y="3429000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0" name="Shape 38"/>
          <p:cNvSpPr/>
          <p:nvPr/>
        </p:nvSpPr>
        <p:spPr>
          <a:xfrm>
            <a:off x="8458200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1" name="Shape 39"/>
          <p:cNvSpPr/>
          <p:nvPr/>
        </p:nvSpPr>
        <p:spPr>
          <a:xfrm>
            <a:off x="9025128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2" name="Shape 40"/>
          <p:cNvSpPr/>
          <p:nvPr/>
        </p:nvSpPr>
        <p:spPr>
          <a:xfrm>
            <a:off x="9592056" y="4050792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58984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4" name="Shape 42"/>
          <p:cNvSpPr/>
          <p:nvPr/>
        </p:nvSpPr>
        <p:spPr>
          <a:xfrm>
            <a:off x="10725912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92840" y="4050792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6" name="Shape 44"/>
          <p:cNvSpPr/>
          <p:nvPr/>
        </p:nvSpPr>
        <p:spPr>
          <a:xfrm>
            <a:off x="8458200" y="467258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7" name="Shape 45"/>
          <p:cNvSpPr/>
          <p:nvPr/>
        </p:nvSpPr>
        <p:spPr>
          <a:xfrm>
            <a:off x="9025128" y="4672584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48" name="Shape 46"/>
          <p:cNvSpPr/>
          <p:nvPr/>
        </p:nvSpPr>
        <p:spPr>
          <a:xfrm>
            <a:off x="9592056" y="467258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49" name="Shape 47"/>
          <p:cNvSpPr/>
          <p:nvPr/>
        </p:nvSpPr>
        <p:spPr>
          <a:xfrm>
            <a:off x="10158984" y="467258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0" name="Shape 48"/>
          <p:cNvSpPr/>
          <p:nvPr/>
        </p:nvSpPr>
        <p:spPr>
          <a:xfrm>
            <a:off x="10725912" y="4672584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1" name="Shape 49"/>
          <p:cNvSpPr/>
          <p:nvPr/>
        </p:nvSpPr>
        <p:spPr>
          <a:xfrm>
            <a:off x="11292840" y="4672584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52" name="Shape 50"/>
          <p:cNvSpPr/>
          <p:nvPr/>
        </p:nvSpPr>
        <p:spPr>
          <a:xfrm>
            <a:off x="8458200" y="5294376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53" name="Shape 51"/>
          <p:cNvSpPr/>
          <p:nvPr/>
        </p:nvSpPr>
        <p:spPr>
          <a:xfrm>
            <a:off x="9025128" y="529437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4" name="Shape 52"/>
          <p:cNvSpPr/>
          <p:nvPr/>
        </p:nvSpPr>
        <p:spPr>
          <a:xfrm>
            <a:off x="9592056" y="529437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5" name="Shape 53"/>
          <p:cNvSpPr/>
          <p:nvPr/>
        </p:nvSpPr>
        <p:spPr>
          <a:xfrm>
            <a:off x="10158984" y="529437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25912" y="5294376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57" name="Shape 55"/>
          <p:cNvSpPr/>
          <p:nvPr/>
        </p:nvSpPr>
        <p:spPr>
          <a:xfrm>
            <a:off x="11292840" y="5294376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8" name="Shape 56"/>
          <p:cNvSpPr/>
          <p:nvPr/>
        </p:nvSpPr>
        <p:spPr>
          <a:xfrm>
            <a:off x="8458200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59" name="Shape 57"/>
          <p:cNvSpPr/>
          <p:nvPr/>
        </p:nvSpPr>
        <p:spPr>
          <a:xfrm>
            <a:off x="9025128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0" name="Shape 58"/>
          <p:cNvSpPr/>
          <p:nvPr/>
        </p:nvSpPr>
        <p:spPr>
          <a:xfrm>
            <a:off x="9592056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1" name="Shape 59"/>
          <p:cNvSpPr/>
          <p:nvPr/>
        </p:nvSpPr>
        <p:spPr>
          <a:xfrm>
            <a:off x="10158984" y="5916168"/>
            <a:ext cx="82296" cy="822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2" name="Shape 60"/>
          <p:cNvSpPr/>
          <p:nvPr/>
        </p:nvSpPr>
        <p:spPr>
          <a:xfrm>
            <a:off x="10725912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3" name="Shape 61"/>
          <p:cNvSpPr/>
          <p:nvPr/>
        </p:nvSpPr>
        <p:spPr>
          <a:xfrm>
            <a:off x="11292840" y="5916168"/>
            <a:ext cx="82296" cy="82296"/>
          </a:xfrm>
          <a:prstGeom prst="ellipse">
            <a:avLst/>
          </a:prstGeom>
          <a:solidFill>
            <a:srgbClr val="1C3357"/>
          </a:solidFill>
          <a:ln/>
        </p:spPr>
      </p:sp>
      <p:sp>
        <p:nvSpPr>
          <p:cNvPr id="64" name="Text 62"/>
          <p:cNvSpPr/>
          <p:nvPr/>
        </p:nvSpPr>
        <p:spPr>
          <a:xfrm>
            <a:off x="64008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5" name="Text 63"/>
          <p:cNvSpPr/>
          <p:nvPr/>
        </p:nvSpPr>
        <p:spPr>
          <a:xfrm>
            <a:off x="640080" y="32461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and a live walkthrough of the NOC dashboard on request.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658368" y="3840480"/>
            <a:ext cx="1371600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 →  PROCESS  →  ENGINEER  →  PREDICT  →  EXPLAIN  →  ACT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 &amp; Predictive Intelligence System  ·  Milan Grid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2026-09-13T06:27:02Z</dcterms:created>
  <dcterms:modified xsi:type="dcterms:W3CDTF">2026-09-13T06:27:02Z</dcterms:modified>
</cp:coreProperties>
</file>